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21383625" cy="30279975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SURF_poster2_FreeRTOS.pptx: original poster layout and verified technical content.</a:t>
            </a:r>
          </a:p>
          <a:p>
            <a:r>
              <a:t>- Project-supplied vehicle and charging-dock illustrations from SURF_poster2_FreeRTOS.pptx, used as visual references for the approved architecture schematic.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0" name="图片 120"/>
          <p:cNvPicPr>
            <a:picLocks noChangeAspect="1"/>
          </p:cNvPicPr>
          <p:nvPr/>
        </p:nvPicPr>
        <p:blipFill>
          <a:blip r:embed="rId1"/>
          <a:srcRect l="30128" r="30128"/>
          <a:stretch>
            <a:fillRect/>
          </a:stretch>
        </p:blipFill>
        <p:spPr>
          <a:xfrm>
            <a:off x="0" y="0"/>
            <a:ext cx="21383625" cy="30279975"/>
          </a:xfrm>
          <a:prstGeom prst="rect">
            <a:avLst/>
          </a:prstGeom>
        </p:spPr>
      </p:pic>
      <p:sp>
        <p:nvSpPr>
          <p:cNvPr id="2" name="editable-background-wash"/>
          <p:cNvSpPr>
            <a:spLocks noGrp="1"/>
          </p:cNvSpPr>
          <p:nvPr/>
        </p:nvSpPr>
        <p:spPr>
          <a:xfrm>
            <a:off x="77649" y="0"/>
            <a:ext cx="21383625" cy="30279975"/>
          </a:xfrm>
          <a:prstGeom prst="rect">
            <a:avLst/>
          </a:prstGeom>
          <a:solidFill>
            <a:srgbClr val="F2EBDD">
              <a:alpha val="95000"/>
            </a:srgbClr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3" name="header-divider"/>
          <p:cNvSpPr>
            <a:spLocks noGrp="1"/>
          </p:cNvSpPr>
          <p:nvPr/>
        </p:nvSpPr>
        <p:spPr>
          <a:xfrm>
            <a:off x="666750" y="4514850"/>
            <a:ext cx="20050125" cy="4763"/>
          </a:xfrm>
          <a:prstGeom prst="line">
            <a:avLst/>
          </a:prstGeom>
          <a:noFill/>
          <a:ln w="22860">
            <a:solidFill>
              <a:srgbClr val="4E4A43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op-column-separator-1"/>
          <p:cNvSpPr>
            <a:spLocks noGrp="1"/>
          </p:cNvSpPr>
          <p:nvPr/>
        </p:nvSpPr>
        <p:spPr>
          <a:xfrm>
            <a:off x="7191375" y="4857750"/>
            <a:ext cx="4763" cy="8096250"/>
          </a:xfrm>
          <a:prstGeom prst="line">
            <a:avLst/>
          </a:prstGeom>
          <a:noFill/>
          <a:ln w="10478">
            <a:solidFill>
              <a:srgbClr val="B7AEA0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top-column-separator-2"/>
          <p:cNvSpPr>
            <a:spLocks noGrp="1"/>
          </p:cNvSpPr>
          <p:nvPr/>
        </p:nvSpPr>
        <p:spPr>
          <a:xfrm>
            <a:off x="13858875" y="4857750"/>
            <a:ext cx="4763" cy="8096250"/>
          </a:xfrm>
          <a:prstGeom prst="line">
            <a:avLst/>
          </a:prstGeom>
          <a:noFill/>
          <a:ln w="10478">
            <a:solidFill>
              <a:srgbClr val="B7AEA0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method-divider"/>
          <p:cNvSpPr>
            <a:spLocks noGrp="1"/>
          </p:cNvSpPr>
          <p:nvPr/>
        </p:nvSpPr>
        <p:spPr>
          <a:xfrm>
            <a:off x="666750" y="18154650"/>
            <a:ext cx="20050125" cy="4763"/>
          </a:xfrm>
          <a:prstGeom prst="line">
            <a:avLst/>
          </a:prstGeom>
          <a:noFill/>
          <a:ln w="11430">
            <a:solidFill>
              <a:srgbClr val="B7AEA0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docking-column-separator"/>
          <p:cNvSpPr>
            <a:spLocks noGrp="1"/>
          </p:cNvSpPr>
          <p:nvPr/>
        </p:nvSpPr>
        <p:spPr>
          <a:xfrm>
            <a:off x="13858875" y="18383250"/>
            <a:ext cx="4763" cy="4191000"/>
          </a:xfrm>
          <a:prstGeom prst="line">
            <a:avLst/>
          </a:prstGeom>
          <a:noFill/>
          <a:ln w="10478">
            <a:solidFill>
              <a:srgbClr val="B7AEA0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hardware-column-separator-1"/>
          <p:cNvSpPr>
            <a:spLocks noGrp="1"/>
          </p:cNvSpPr>
          <p:nvPr/>
        </p:nvSpPr>
        <p:spPr>
          <a:xfrm>
            <a:off x="7191375" y="22860000"/>
            <a:ext cx="4763" cy="4810125"/>
          </a:xfrm>
          <a:prstGeom prst="line">
            <a:avLst/>
          </a:prstGeom>
          <a:noFill/>
          <a:ln w="10478">
            <a:solidFill>
              <a:srgbClr val="B7AEA0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hardware-column-separator-2"/>
          <p:cNvSpPr>
            <a:spLocks noGrp="1"/>
          </p:cNvSpPr>
          <p:nvPr/>
        </p:nvSpPr>
        <p:spPr>
          <a:xfrm>
            <a:off x="13858875" y="22860000"/>
            <a:ext cx="4763" cy="4810125"/>
          </a:xfrm>
          <a:prstGeom prst="line">
            <a:avLst/>
          </a:prstGeom>
          <a:noFill/>
          <a:ln w="10478">
            <a:solidFill>
              <a:srgbClr val="B7AEA0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bottom-divider"/>
          <p:cNvSpPr>
            <a:spLocks noGrp="1"/>
          </p:cNvSpPr>
          <p:nvPr/>
        </p:nvSpPr>
        <p:spPr>
          <a:xfrm>
            <a:off x="666750" y="27813000"/>
            <a:ext cx="20050125" cy="4763"/>
          </a:xfrm>
          <a:prstGeom prst="line">
            <a:avLst/>
          </a:prstGeom>
          <a:noFill/>
          <a:ln w="17145">
            <a:solidFill>
              <a:srgbClr val="4E4A43"/>
            </a:solidFill>
            <a:prstDash val="solid"/>
          </a:ln>
        </p:spPr>
        <p:txBody>
          <a:bodyPr/>
          <a:lstStyle/>
          <a:p/>
        </p:txBody>
      </p:sp>
      <p:pic>
        <p:nvPicPr>
          <p:cNvPr id="190" name="图片 1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7555" y="514350"/>
            <a:ext cx="4357140" cy="1790700"/>
          </a:xfrm>
          <a:prstGeom prst="rect">
            <a:avLst/>
          </a:prstGeom>
        </p:spPr>
      </p:pic>
      <p:pic>
        <p:nvPicPr>
          <p:cNvPr id="191" name="图片 133"/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14001750" y="5238750"/>
            <a:ext cx="6715125" cy="3076575"/>
          </a:xfrm>
          <a:prstGeom prst="rect">
            <a:avLst/>
          </a:prstGeom>
        </p:spPr>
      </p:pic>
      <p:pic>
        <p:nvPicPr>
          <p:cNvPr id="192" name="图片 1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13818393"/>
            <a:ext cx="20029004" cy="3228975"/>
          </a:xfrm>
          <a:prstGeom prst="rect">
            <a:avLst/>
          </a:prstGeom>
        </p:spPr>
      </p:pic>
      <p:pic>
        <p:nvPicPr>
          <p:cNvPr id="193" name="图片 1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8859500"/>
            <a:ext cx="8420100" cy="3526250"/>
          </a:xfrm>
          <a:prstGeom prst="rect">
            <a:avLst/>
          </a:prstGeom>
        </p:spPr>
      </p:pic>
      <p:pic>
        <p:nvPicPr>
          <p:cNvPr id="194" name="图片 1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1280" y="18907125"/>
            <a:ext cx="4662190" cy="1971675"/>
          </a:xfrm>
          <a:prstGeom prst="rect">
            <a:avLst/>
          </a:prstGeom>
        </p:spPr>
      </p:pic>
      <p:pic>
        <p:nvPicPr>
          <p:cNvPr id="195" name="图片 1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4" y="23383875"/>
            <a:ext cx="3752206" cy="1504950"/>
          </a:xfrm>
          <a:prstGeom prst="rect">
            <a:avLst/>
          </a:prstGeom>
        </p:spPr>
      </p:pic>
      <p:pic>
        <p:nvPicPr>
          <p:cNvPr id="196" name="图片 138"/>
          <p:cNvPicPr>
            <a:picLocks noChangeAspect="1"/>
          </p:cNvPicPr>
          <p:nvPr/>
        </p:nvPicPr>
        <p:blipFill>
          <a:blip r:embed="rId8"/>
          <a:srcRect l="115" r="115"/>
          <a:stretch>
            <a:fillRect/>
          </a:stretch>
        </p:blipFill>
        <p:spPr>
          <a:xfrm>
            <a:off x="4619625" y="23383875"/>
            <a:ext cx="2428875" cy="1295400"/>
          </a:xfrm>
          <a:prstGeom prst="rect">
            <a:avLst/>
          </a:prstGeom>
        </p:spPr>
      </p:pic>
      <p:pic>
        <p:nvPicPr>
          <p:cNvPr id="197" name="图片 13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01750" y="10211063"/>
            <a:ext cx="2857500" cy="1942574"/>
          </a:xfrm>
          <a:prstGeom prst="rect">
            <a:avLst/>
          </a:prstGeom>
        </p:spPr>
      </p:pic>
      <p:sp>
        <p:nvSpPr>
          <p:cNvPr id="23" name="poster-title-line-1"/>
          <p:cNvSpPr>
            <a:spLocks noGrp="1"/>
          </p:cNvSpPr>
          <p:nvPr/>
        </p:nvSpPr>
        <p:spPr>
          <a:xfrm>
            <a:off x="666750" y="457200"/>
            <a:ext cx="13811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buNone/>
              <a:defRPr sz="54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54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AUTONOMOUS DOCKING</a:t>
            </a:r>
            <a:endParaRPr sz="5400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poster-title-line-2"/>
          <p:cNvSpPr>
            <a:spLocks noGrp="1"/>
          </p:cNvSpPr>
          <p:nvPr/>
        </p:nvSpPr>
        <p:spPr>
          <a:xfrm>
            <a:off x="666750" y="1162050"/>
            <a:ext cx="1438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907"/>
          </a:bodyPr>
          <a:lstStyle/>
          <a:p>
            <a:pPr algn="l">
              <a:buNone/>
              <a:defRPr sz="54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54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SMART EV Charger</a:t>
            </a:r>
            <a:endParaRPr sz="5400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poster-subtitle"/>
          <p:cNvSpPr>
            <a:spLocks noGrp="1"/>
          </p:cNvSpPr>
          <p:nvPr/>
        </p:nvSpPr>
        <p:spPr>
          <a:xfrm>
            <a:off x="695325" y="1981200"/>
            <a:ext cx="1438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 i="0">
                <a:solidFill>
                  <a:srgbClr val="536A5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75" b="1" i="0">
                <a:solidFill>
                  <a:srgbClr val="536A5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Vision-guided contact alignment and locally fail-safe power control for orchard robots</a:t>
            </a:r>
            <a:endParaRPr sz="2175" b="1" i="0">
              <a:solidFill>
                <a:srgbClr val="536A5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authors-and-affiliation"/>
          <p:cNvSpPr>
            <a:spLocks noGrp="1"/>
          </p:cNvSpPr>
          <p:nvPr/>
        </p:nvSpPr>
        <p:spPr>
          <a:xfrm>
            <a:off x="695325" y="2400300"/>
            <a:ext cx="1438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  <a:defRPr sz="1500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>
                <a:solidFill>
                  <a:schemeClr val="tx1"/>
                </a:solidFill>
                <a:sym typeface="+mn-ea"/>
              </a:rPr>
              <a:t>Members: </a:t>
            </a:r>
            <a:r>
              <a:rPr>
                <a:solidFill>
                  <a:schemeClr val="tx1"/>
                </a:solidFill>
                <a:sym typeface="+mn-ea"/>
              </a:rPr>
              <a:t>Siyuan Lin</a:t>
            </a:r>
            <a:r>
              <a:rPr lang="en-US">
                <a:solidFill>
                  <a:schemeClr val="tx1"/>
                </a:solidFill>
                <a:sym typeface="+mn-ea"/>
              </a:rPr>
              <a:t>, </a:t>
            </a:r>
            <a:r>
              <a:rPr>
                <a:solidFill>
                  <a:schemeClr val="tx1"/>
                </a:solidFill>
                <a:sym typeface="+mn-ea"/>
              </a:rPr>
              <a:t>Xunuo Zhuang</a:t>
            </a:r>
            <a:r>
              <a:rPr lang="en-US">
                <a:solidFill>
                  <a:schemeClr val="tx1"/>
                </a:solidFill>
                <a:sym typeface="+mn-ea"/>
              </a:rPr>
              <a:t>, </a:t>
            </a:r>
            <a:r>
              <a:rPr sz="1500" b="0" i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Yuhan Qiu   |  Xi’an Jiaotong-Liverpool University</a:t>
            </a:r>
            <a:endParaRPr sz="1500" b="0" i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surf-code-and-supervisor"/>
          <p:cNvSpPr>
            <a:spLocks noGrp="1"/>
          </p:cNvSpPr>
          <p:nvPr/>
        </p:nvSpPr>
        <p:spPr>
          <a:xfrm>
            <a:off x="695325" y="2686050"/>
            <a:ext cx="1438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  <a:defRPr sz="1425" b="0" i="0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SURF Code:</a:t>
            </a:r>
            <a:r>
              <a:rPr sz="150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0639 </a:t>
            </a:r>
            <a:r>
              <a:rPr sz="1500" b="0" i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Supervisor: </a:t>
            </a:r>
            <a:r>
              <a:rPr sz="150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Xiaohui Zhu and Yong Yue</a:t>
            </a:r>
            <a:endParaRPr sz="1500" b="0" i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abstract-heading"/>
          <p:cNvSpPr>
            <a:spLocks noGrp="1"/>
          </p:cNvSpPr>
          <p:nvPr/>
        </p:nvSpPr>
        <p:spPr>
          <a:xfrm>
            <a:off x="695325" y="30861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ABSTRACT</a:t>
            </a:r>
            <a:endParaRPr sz="1875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abstract-body"/>
          <p:cNvSpPr>
            <a:spLocks noGrp="1"/>
          </p:cNvSpPr>
          <p:nvPr/>
        </p:nvSpPr>
        <p:spPr>
          <a:xfrm>
            <a:off x="695325" y="3381375"/>
            <a:ext cx="200215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Autonomous orchard robots cannot operate continuously if navigation, docking and charging are treated as separate demonstrations. We present an integrated ROS 2 system that interrupts field work at low battery, uses Nav2 to reach a pre-docking pose, and transfers final control to a rear camera detecting an ArUco marker. </a:t>
            </a:r>
            <a:r>
              <a:rPr sz="157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 the dock, FreeRTOS keeps Wi-Fi telemetry in a separate task while a local safety state machine verifies distance, contact, voltage/current, temperature and E-stop status before the ESP32-S3 energises the relay.</a:t>
            </a:r>
            <a:r>
              <a:rPr sz="157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Web services record state and support charge planning, while local firmware retains final safety authority. The prototype closes the loop from task execution to safe charging and recovery.</a:t>
            </a:r>
            <a:endParaRPr sz="1575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section-1-number"/>
          <p:cNvSpPr>
            <a:spLocks noGrp="1"/>
          </p:cNvSpPr>
          <p:nvPr/>
        </p:nvSpPr>
        <p:spPr>
          <a:xfrm>
            <a:off x="666750" y="4810125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</a:t>
            </a:r>
            <a:endParaRPr sz="1650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section-1-title"/>
          <p:cNvSpPr>
            <a:spLocks noGrp="1"/>
          </p:cNvSpPr>
          <p:nvPr/>
        </p:nvSpPr>
        <p:spPr>
          <a:xfrm>
            <a:off x="1143000" y="4800600"/>
            <a:ext cx="590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BACKGROUND &amp; MOTIVATION</a:t>
            </a:r>
            <a:endParaRPr sz="2100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section-1-rule"/>
          <p:cNvSpPr>
            <a:spLocks noGrp="1"/>
          </p:cNvSpPr>
          <p:nvPr/>
        </p:nvSpPr>
        <p:spPr>
          <a:xfrm>
            <a:off x="666750" y="5172075"/>
            <a:ext cx="6381750" cy="4763"/>
          </a:xfrm>
          <a:prstGeom prst="line">
            <a:avLst/>
          </a:prstGeom>
          <a:noFill/>
          <a:ln w="20955">
            <a:solidFill>
              <a:srgbClr val="6D866B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background-body"/>
          <p:cNvSpPr>
            <a:spLocks noGrp="1"/>
          </p:cNvSpPr>
          <p:nvPr/>
        </p:nvSpPr>
        <p:spPr>
          <a:xfrm>
            <a:off x="666750" y="5276850"/>
            <a:ext cx="63817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825"/>
          </a:bodyPr>
          <a:lstStyle/>
          <a:p>
            <a:pPr algn="l">
              <a:buNone/>
              <a:defRPr sz="157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Autonomous harvesting requires repeated routes and unattended energy recovery. Map-level navigation can return a vehicle near a charger, but it cannot guarantee centimetre-scale alignment of conductive contacts. A remote charging request is also not proof that the robot is physically docked or electrically safe.</a:t>
            </a:r>
            <a:endParaRPr sz="1575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research-gap-heading"/>
          <p:cNvSpPr>
            <a:spLocks noGrp="1"/>
          </p:cNvSpPr>
          <p:nvPr/>
        </p:nvSpPr>
        <p:spPr>
          <a:xfrm>
            <a:off x="666750" y="6572250"/>
            <a:ext cx="2476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 GAP</a:t>
            </a:r>
            <a:endParaRPr sz="1500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5" name="research-gap-body"/>
          <p:cNvSpPr>
            <a:spLocks noGrp="1"/>
          </p:cNvSpPr>
          <p:nvPr/>
        </p:nvSpPr>
        <p:spPr>
          <a:xfrm>
            <a:off x="666750" y="6858000"/>
            <a:ext cx="6381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82" lnSpcReduction="10000"/>
          </a:bodyPr>
          <a:lstStyle/>
          <a:p>
            <a:pPr algn="l">
              <a:buNone/>
              <a:defRPr sz="1500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Existing prototypes often demonstrate navigation, docking or charging in isolation. The missing capability is a verifiable, energy-aware loop that arbitrates task interruption, fine alignment, safe power delivery and recovery.</a:t>
            </a:r>
            <a:endParaRPr sz="1500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6" name="design-objectives-heading"/>
          <p:cNvSpPr>
            <a:spLocks noGrp="1"/>
          </p:cNvSpPr>
          <p:nvPr/>
        </p:nvSpPr>
        <p:spPr>
          <a:xfrm>
            <a:off x="3619500" y="8172450"/>
            <a:ext cx="3429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DESIGN OBJECTIVES</a:t>
            </a:r>
            <a:endParaRPr sz="1500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" name="design-objectives-body"/>
          <p:cNvSpPr>
            <a:spLocks noGrp="1"/>
          </p:cNvSpPr>
          <p:nvPr/>
        </p:nvSpPr>
        <p:spPr>
          <a:xfrm>
            <a:off x="3619500" y="8496300"/>
            <a:ext cx="3429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81" lnSpcReduction="10000"/>
          </a:bodyPr>
          <a:lstStyle/>
          <a:p>
            <a:pPr algn="l">
              <a:buNone/>
              <a:defRPr sz="14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  Integrate mission, energy, docking and charging.</a:t>
            </a:r>
            <a:endParaRPr sz="146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4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  Separate coarse navigation from fine vision control.</a:t>
            </a:r>
            <a:endParaRPr sz="146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4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  Require multiple independent local safety checks.</a:t>
            </a:r>
            <a:endParaRPr sz="146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4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  Preserve Web planning without cloud authority over power.</a:t>
            </a:r>
            <a:endParaRPr sz="146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8" name="remote-monitoring-heading"/>
          <p:cNvSpPr>
            <a:spLocks noGrp="1"/>
          </p:cNvSpPr>
          <p:nvPr/>
        </p:nvSpPr>
        <p:spPr>
          <a:xfrm>
            <a:off x="3619500" y="10287000"/>
            <a:ext cx="3429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418"/>
          </a:bodyPr>
          <a:lstStyle/>
          <a:p>
            <a:pPr algn="l">
              <a:buNone/>
              <a:defRPr sz="1425" b="1" i="0">
                <a:solidFill>
                  <a:srgbClr val="536A5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 i="0">
                <a:solidFill>
                  <a:srgbClr val="536A5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REMOTE MONITORING — ADVISORY ONLY</a:t>
            </a:r>
            <a:endParaRPr sz="1425" b="1" i="0">
              <a:solidFill>
                <a:srgbClr val="536A5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9" name="remote-monitoring-body"/>
          <p:cNvSpPr>
            <a:spLocks noGrp="1"/>
          </p:cNvSpPr>
          <p:nvPr/>
        </p:nvSpPr>
        <p:spPr>
          <a:xfrm>
            <a:off x="3619499" y="10591800"/>
            <a:ext cx="3424239" cy="1876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>
              <a:buNone/>
              <a:defRPr sz="142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dashboard displays SOC, power, contact temperature and system state. FastAPI and SQLite provide records and planning support; no Web or AI command can directly energise the relay.</a:t>
            </a:r>
            <a:r>
              <a:rPr sz="1425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It can also display charging data in charts and obtain local electricity prices based on the real-time IP location to provide the most cost-effective charging recommendations.</a:t>
            </a:r>
            <a:endParaRPr sz="1425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42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425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0" name="website-caption"/>
          <p:cNvSpPr>
            <a:spLocks noGrp="1"/>
          </p:cNvSpPr>
          <p:nvPr/>
        </p:nvSpPr>
        <p:spPr>
          <a:xfrm>
            <a:off x="666750" y="12620625"/>
            <a:ext cx="638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1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1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Web dashboard supplied by the project team</a:t>
            </a:r>
            <a:endParaRPr sz="1200" b="0" i="1">
              <a:solidFill>
                <a:srgbClr val="706A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section-2-number"/>
          <p:cNvSpPr>
            <a:spLocks noGrp="1"/>
          </p:cNvSpPr>
          <p:nvPr/>
        </p:nvSpPr>
        <p:spPr>
          <a:xfrm>
            <a:off x="7334250" y="4810125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</a:t>
            </a:r>
            <a:endParaRPr sz="1650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2" name="section-2-title"/>
          <p:cNvSpPr>
            <a:spLocks noGrp="1"/>
          </p:cNvSpPr>
          <p:nvPr/>
        </p:nvSpPr>
        <p:spPr>
          <a:xfrm>
            <a:off x="7810500" y="4800600"/>
            <a:ext cx="590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SYSTEM ARCHITECTURE</a:t>
            </a:r>
            <a:endParaRPr sz="2100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3" name="section-2-rule"/>
          <p:cNvSpPr>
            <a:spLocks noGrp="1"/>
          </p:cNvSpPr>
          <p:nvPr/>
        </p:nvSpPr>
        <p:spPr>
          <a:xfrm>
            <a:off x="7334250" y="5172075"/>
            <a:ext cx="6381750" cy="4763"/>
          </a:xfrm>
          <a:prstGeom prst="line">
            <a:avLst/>
          </a:prstGeom>
          <a:noFill/>
          <a:ln w="20955">
            <a:solidFill>
              <a:srgbClr val="6D866B"/>
            </a:solidFill>
            <a:prstDash val="solid"/>
          </a:ln>
        </p:spPr>
        <p:txBody>
          <a:bodyPr/>
          <a:lstStyle/>
          <a:p/>
        </p:txBody>
      </p:sp>
      <p:sp>
        <p:nvSpPr>
          <p:cNvPr id="44" name="hero-caption"/>
          <p:cNvSpPr>
            <a:spLocks noGrp="1"/>
          </p:cNvSpPr>
          <p:nvPr/>
        </p:nvSpPr>
        <p:spPr>
          <a:xfrm>
            <a:off x="7334250" y="9944100"/>
            <a:ext cx="638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1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1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System overview: mobile robot, visual landmark, fixed charging station and service layer</a:t>
            </a:r>
            <a:endParaRPr sz="1200" b="0" i="1">
              <a:solidFill>
                <a:srgbClr val="706A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5" name="layered-control-heading"/>
          <p:cNvSpPr>
            <a:spLocks noGrp="1"/>
          </p:cNvSpPr>
          <p:nvPr/>
        </p:nvSpPr>
        <p:spPr>
          <a:xfrm>
            <a:off x="7334250" y="10306050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CONTROL STACK</a:t>
            </a:r>
            <a:endParaRPr sz="1500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6" name="layered-control-body"/>
          <p:cNvSpPr>
            <a:spLocks noGrp="1"/>
          </p:cNvSpPr>
          <p:nvPr/>
        </p:nvSpPr>
        <p:spPr>
          <a:xfrm>
            <a:off x="7334250" y="1062037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6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465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7" name="architecture-principle"/>
          <p:cNvSpPr>
            <a:spLocks noGrp="1"/>
          </p:cNvSpPr>
          <p:nvPr/>
        </p:nvSpPr>
        <p:spPr>
          <a:xfrm>
            <a:off x="7334250" y="12172950"/>
            <a:ext cx="6381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90" b="1" i="0">
                <a:solidFill>
                  <a:srgbClr val="536A5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90" b="1" i="0">
                <a:solidFill>
                  <a:srgbClr val="536A5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LOCAL AUTHORITY  Network services may request; FreeRTOS alone proves safety and energises the relay.</a:t>
            </a:r>
            <a:endParaRPr sz="1290" b="1" i="0">
              <a:solidFill>
                <a:srgbClr val="536A5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8" name="section-3-number"/>
          <p:cNvSpPr>
            <a:spLocks noGrp="1"/>
          </p:cNvSpPr>
          <p:nvPr/>
        </p:nvSpPr>
        <p:spPr>
          <a:xfrm>
            <a:off x="14001750" y="4810125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</a:t>
            </a:r>
            <a:endParaRPr sz="1650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9" name="section-3-title"/>
          <p:cNvSpPr>
            <a:spLocks noGrp="1"/>
          </p:cNvSpPr>
          <p:nvPr/>
        </p:nvSpPr>
        <p:spPr>
          <a:xfrm>
            <a:off x="14478000" y="4800600"/>
            <a:ext cx="6238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PROTOTYPE &amp; EVIDENCE</a:t>
            </a:r>
            <a:endParaRPr sz="2100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0" name="section-3-rule"/>
          <p:cNvSpPr>
            <a:spLocks noGrp="1"/>
          </p:cNvSpPr>
          <p:nvPr/>
        </p:nvSpPr>
        <p:spPr>
          <a:xfrm>
            <a:off x="14001750" y="5172075"/>
            <a:ext cx="6715125" cy="4763"/>
          </a:xfrm>
          <a:prstGeom prst="line">
            <a:avLst/>
          </a:prstGeom>
          <a:noFill/>
          <a:ln w="20955">
            <a:solidFill>
              <a:srgbClr val="6D866B"/>
            </a:solidFill>
            <a:prstDash val="solid"/>
          </a:ln>
        </p:spPr>
        <p:txBody>
          <a:bodyPr/>
          <a:lstStyle/>
          <a:p/>
        </p:txBody>
      </p:sp>
      <p:sp>
        <p:nvSpPr>
          <p:cNvPr id="51" name="prototype-caption"/>
          <p:cNvSpPr>
            <a:spLocks noGrp="1"/>
          </p:cNvSpPr>
          <p:nvPr/>
        </p:nvSpPr>
        <p:spPr>
          <a:xfrm>
            <a:off x="14001750" y="8401050"/>
            <a:ext cx="6715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1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1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Physical Ackermann robot and fixed charging station in the indoor test area</a:t>
            </a:r>
            <a:endParaRPr sz="1200" b="0" i="1">
              <a:solidFill>
                <a:srgbClr val="706A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2" name="physical-implementation-heading"/>
          <p:cNvSpPr>
            <a:spLocks noGrp="1"/>
          </p:cNvSpPr>
          <p:nvPr/>
        </p:nvSpPr>
        <p:spPr>
          <a:xfrm>
            <a:off x="14001750" y="8763000"/>
            <a:ext cx="314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PHYSICAL IMPLEMENTATION</a:t>
            </a:r>
            <a:endParaRPr sz="1500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3" name="physical-implementation-body"/>
          <p:cNvSpPr>
            <a:spLocks noGrp="1"/>
          </p:cNvSpPr>
          <p:nvPr/>
        </p:nvSpPr>
        <p:spPr>
          <a:xfrm>
            <a:off x="14001750" y="9077325"/>
            <a:ext cx="6715125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prototype combines a rear camera, conductive contacts and an energy-aware mission manager with a fixed ESP32-S3 dock. The charging station exposes local state, fault, distance, contact, electrical and thermal information for traceable testing.</a:t>
            </a:r>
            <a:endParaRPr sz="1500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4" name="mechanical-interface-heading"/>
          <p:cNvSpPr>
            <a:spLocks noGrp="1"/>
          </p:cNvSpPr>
          <p:nvPr/>
        </p:nvSpPr>
        <p:spPr>
          <a:xfrm>
            <a:off x="17002125" y="10210800"/>
            <a:ext cx="3714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MECHANICAL INTERFACE</a:t>
            </a:r>
            <a:endParaRPr sz="1500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5" name="mechanical-interface-body"/>
          <p:cNvSpPr>
            <a:spLocks noGrp="1"/>
          </p:cNvSpPr>
          <p:nvPr/>
        </p:nvSpPr>
        <p:spPr>
          <a:xfrm>
            <a:off x="17002125" y="10525125"/>
            <a:ext cx="3714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Elastic copper plates compensate small docking errors. An insulated centre trigger pin confirms position without carrying current, so electrical contact and mechanical detection can be adjusted independently.</a:t>
            </a:r>
            <a:endParaRPr sz="1425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6" name="exploded-top-caption"/>
          <p:cNvSpPr>
            <a:spLocks noGrp="1"/>
          </p:cNvSpPr>
          <p:nvPr/>
        </p:nvSpPr>
        <p:spPr>
          <a:xfrm>
            <a:off x="14001750" y="12144375"/>
            <a:ext cx="6715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1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1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Serviceable enclosure and elastic-contact assembly</a:t>
            </a:r>
            <a:endParaRPr sz="1200" b="0" i="1">
              <a:solidFill>
                <a:srgbClr val="706A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7" name="primary-question-heading"/>
          <p:cNvSpPr>
            <a:spLocks noGrp="1"/>
          </p:cNvSpPr>
          <p:nvPr/>
        </p:nvSpPr>
        <p:spPr>
          <a:xfrm>
            <a:off x="14001750" y="12401550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 i="0">
                <a:solidFill>
                  <a:srgbClr val="536A5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 i="0">
                <a:solidFill>
                  <a:srgbClr val="536A5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PRIMARY QUESTION</a:t>
            </a:r>
            <a:endParaRPr sz="1425" b="1" i="0">
              <a:solidFill>
                <a:srgbClr val="536A5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" name="primary-question-body"/>
          <p:cNvSpPr>
            <a:spLocks noGrp="1"/>
          </p:cNvSpPr>
          <p:nvPr/>
        </p:nvSpPr>
        <p:spPr>
          <a:xfrm>
            <a:off x="16402050" y="12401550"/>
            <a:ext cx="43148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82" lnSpcReduction="10000"/>
          </a:bodyPr>
          <a:lstStyle/>
          <a:p>
            <a:pPr algn="l">
              <a:buNone/>
              <a:defRPr sz="131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1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How can a robot recover energy autonomously without allowing navigation error, network logic or a single sensor to energise an unsafe contact?</a:t>
            </a:r>
            <a:endParaRPr sz="131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9" name="section-4-number"/>
          <p:cNvSpPr>
            <a:spLocks noGrp="1"/>
          </p:cNvSpPr>
          <p:nvPr/>
        </p:nvSpPr>
        <p:spPr>
          <a:xfrm>
            <a:off x="666750" y="132588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</a:t>
            </a:r>
            <a:endParaRPr sz="1650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0" name="section-4-title"/>
          <p:cNvSpPr>
            <a:spLocks noGrp="1"/>
          </p:cNvSpPr>
          <p:nvPr/>
        </p:nvSpPr>
        <p:spPr>
          <a:xfrm>
            <a:off x="1121879" y="13134975"/>
            <a:ext cx="19573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7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METHODOLOGY — FROM FIELD TASK TO SAFE RECHARGE</a:t>
            </a:r>
            <a:endParaRPr sz="217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1" name="section-4-rule"/>
          <p:cNvSpPr>
            <a:spLocks noGrp="1"/>
          </p:cNvSpPr>
          <p:nvPr/>
        </p:nvSpPr>
        <p:spPr>
          <a:xfrm>
            <a:off x="666750" y="13620750"/>
            <a:ext cx="20050125" cy="4763"/>
          </a:xfrm>
          <a:prstGeom prst="line">
            <a:avLst/>
          </a:prstGeom>
          <a:noFill/>
          <a:ln w="20955">
            <a:solidFill>
              <a:srgbClr val="6D866B"/>
            </a:solidFill>
            <a:prstDash val="solid"/>
          </a:ln>
        </p:spPr>
        <p:txBody>
          <a:bodyPr/>
          <a:lstStyle/>
          <a:p/>
        </p:txBody>
      </p:sp>
      <p:sp>
        <p:nvSpPr>
          <p:cNvPr id="62" name="workflow-number-1"/>
          <p:cNvSpPr>
            <a:spLocks noGrp="1"/>
          </p:cNvSpPr>
          <p:nvPr/>
        </p:nvSpPr>
        <p:spPr>
          <a:xfrm>
            <a:off x="1314450" y="16092488"/>
            <a:ext cx="419100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 i="0">
                <a:solidFill>
                  <a:srgbClr val="536A5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275" b="1" i="0">
              <a:solidFill>
                <a:srgbClr val="536A5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" name="workflow-label-1"/>
          <p:cNvSpPr>
            <a:spLocks noGrp="1"/>
          </p:cNvSpPr>
          <p:nvPr/>
        </p:nvSpPr>
        <p:spPr>
          <a:xfrm>
            <a:off x="481013" y="16164047"/>
            <a:ext cx="1752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FIELD TASK</a:t>
            </a:r>
            <a:endParaRPr sz="116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" name="workflow-number-2"/>
          <p:cNvSpPr>
            <a:spLocks noGrp="1"/>
          </p:cNvSpPr>
          <p:nvPr/>
        </p:nvSpPr>
        <p:spPr>
          <a:xfrm>
            <a:off x="3886200" y="16344900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 i="0">
                <a:solidFill>
                  <a:srgbClr val="536A5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275" b="1" i="0">
              <a:solidFill>
                <a:srgbClr val="536A5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5" name="workflow-label-2"/>
          <p:cNvSpPr>
            <a:spLocks noGrp="1"/>
          </p:cNvSpPr>
          <p:nvPr/>
        </p:nvSpPr>
        <p:spPr>
          <a:xfrm>
            <a:off x="2681288" y="16169340"/>
            <a:ext cx="1752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LOW BATTERY</a:t>
            </a:r>
            <a:endParaRPr sz="116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6" name="workflow-number-3"/>
          <p:cNvSpPr>
            <a:spLocks noGrp="1"/>
          </p:cNvSpPr>
          <p:nvPr/>
        </p:nvSpPr>
        <p:spPr>
          <a:xfrm>
            <a:off x="6362700" y="16344900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 i="0">
                <a:solidFill>
                  <a:srgbClr val="536A5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275" b="1" i="0">
              <a:solidFill>
                <a:srgbClr val="536A5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7" name="workflow-label-3"/>
          <p:cNvSpPr>
            <a:spLocks noGrp="1"/>
          </p:cNvSpPr>
          <p:nvPr/>
        </p:nvSpPr>
        <p:spPr>
          <a:xfrm>
            <a:off x="5092700" y="16149484"/>
            <a:ext cx="1752600" cy="6621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RETURN</a:t>
            </a:r>
            <a:endParaRPr sz="116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workflow-number-4"/>
          <p:cNvSpPr>
            <a:spLocks noGrp="1"/>
          </p:cNvSpPr>
          <p:nvPr/>
        </p:nvSpPr>
        <p:spPr>
          <a:xfrm>
            <a:off x="8934450" y="16344900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 i="0">
                <a:solidFill>
                  <a:srgbClr val="536A5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275" b="1" i="0">
              <a:solidFill>
                <a:srgbClr val="536A5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workflow-label-4"/>
          <p:cNvSpPr>
            <a:spLocks noGrp="1"/>
          </p:cNvSpPr>
          <p:nvPr/>
        </p:nvSpPr>
        <p:spPr>
          <a:xfrm>
            <a:off x="7632700" y="16147256"/>
            <a:ext cx="1752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PRE-DOCK</a:t>
            </a:r>
            <a:endParaRPr sz="116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workflow-number-5"/>
          <p:cNvSpPr>
            <a:spLocks noGrp="1"/>
          </p:cNvSpPr>
          <p:nvPr/>
        </p:nvSpPr>
        <p:spPr>
          <a:xfrm>
            <a:off x="11506200" y="16344900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 i="0">
                <a:solidFill>
                  <a:srgbClr val="536A5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275" b="1" i="0">
              <a:solidFill>
                <a:srgbClr val="536A5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workflow-label-5"/>
          <p:cNvSpPr>
            <a:spLocks noGrp="1"/>
          </p:cNvSpPr>
          <p:nvPr/>
        </p:nvSpPr>
        <p:spPr>
          <a:xfrm>
            <a:off x="9979025" y="16163925"/>
            <a:ext cx="1752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ARUCO ALIGN</a:t>
            </a:r>
            <a:endParaRPr sz="116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" name="workflow-number-6"/>
          <p:cNvSpPr>
            <a:spLocks noGrp="1"/>
          </p:cNvSpPr>
          <p:nvPr/>
        </p:nvSpPr>
        <p:spPr>
          <a:xfrm>
            <a:off x="14077950" y="16344900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 i="0">
                <a:solidFill>
                  <a:srgbClr val="536A5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275" b="1" i="0">
              <a:solidFill>
                <a:srgbClr val="536A5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3" name="workflow-label-6"/>
          <p:cNvSpPr>
            <a:spLocks noGrp="1"/>
          </p:cNvSpPr>
          <p:nvPr/>
        </p:nvSpPr>
        <p:spPr>
          <a:xfrm>
            <a:off x="12394050" y="16139225"/>
            <a:ext cx="1752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LOCAL SAFETY</a:t>
            </a:r>
            <a:endParaRPr sz="116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4" name="workflow-number-7"/>
          <p:cNvSpPr>
            <a:spLocks noGrp="1"/>
          </p:cNvSpPr>
          <p:nvPr/>
        </p:nvSpPr>
        <p:spPr>
          <a:xfrm>
            <a:off x="16649700" y="16344900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 i="0">
                <a:solidFill>
                  <a:srgbClr val="536A5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275" b="1" i="0">
              <a:solidFill>
                <a:srgbClr val="536A5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5" name="workflow-label-7"/>
          <p:cNvSpPr>
            <a:spLocks noGrp="1"/>
          </p:cNvSpPr>
          <p:nvPr/>
        </p:nvSpPr>
        <p:spPr>
          <a:xfrm>
            <a:off x="14643975" y="16180593"/>
            <a:ext cx="1752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CHARGE</a:t>
            </a:r>
            <a:endParaRPr sz="116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6" name="workflow-number-8"/>
          <p:cNvSpPr>
            <a:spLocks noGrp="1"/>
          </p:cNvSpPr>
          <p:nvPr/>
        </p:nvSpPr>
        <p:spPr>
          <a:xfrm>
            <a:off x="19269075" y="16344900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 i="0">
                <a:solidFill>
                  <a:srgbClr val="536A5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275" b="1" i="0">
              <a:solidFill>
                <a:srgbClr val="536A5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7" name="workflow-label-8"/>
          <p:cNvSpPr>
            <a:spLocks noGrp="1"/>
          </p:cNvSpPr>
          <p:nvPr/>
        </p:nvSpPr>
        <p:spPr>
          <a:xfrm>
            <a:off x="16621125" y="16163925"/>
            <a:ext cx="1752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LOG / RESUME</a:t>
            </a:r>
            <a:endParaRPr sz="116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8" name="methodology-body"/>
          <p:cNvSpPr>
            <a:spLocks noGrp="1"/>
          </p:cNvSpPr>
          <p:nvPr/>
        </p:nvSpPr>
        <p:spPr>
          <a:xfrm>
            <a:off x="666750" y="17145000"/>
            <a:ext cx="200501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battery percentage below 25% must persist for five samples before AutoChargeManager cancels active navigation goals and locks out ordinary waypoints. Nav2 sends the robot to a measured pre-docking pose; /start_docking transfers velocity authority to vision. Charging completion releases the return lock and restores the task chain. A 0.35 recovery threshold provides hysteresis against mode oscillation.</a:t>
            </a:r>
            <a:endParaRPr sz="1500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9" name="section-5-number"/>
          <p:cNvSpPr>
            <a:spLocks noGrp="1"/>
          </p:cNvSpPr>
          <p:nvPr/>
        </p:nvSpPr>
        <p:spPr>
          <a:xfrm>
            <a:off x="666750" y="183832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</a:t>
            </a:r>
            <a:endParaRPr sz="1650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0" name="section-5-title"/>
          <p:cNvSpPr>
            <a:spLocks noGrp="1"/>
          </p:cNvSpPr>
          <p:nvPr/>
        </p:nvSpPr>
        <p:spPr>
          <a:xfrm>
            <a:off x="1143000" y="18373725"/>
            <a:ext cx="1257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PRECISION ARUCO DOCKING</a:t>
            </a:r>
            <a:endParaRPr sz="2100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1" name="section-5-rule"/>
          <p:cNvSpPr>
            <a:spLocks noGrp="1"/>
          </p:cNvSpPr>
          <p:nvPr/>
        </p:nvSpPr>
        <p:spPr>
          <a:xfrm>
            <a:off x="666750" y="18745200"/>
            <a:ext cx="13049250" cy="4763"/>
          </a:xfrm>
          <a:prstGeom prst="line">
            <a:avLst/>
          </a:prstGeom>
          <a:noFill/>
          <a:ln w="20955">
            <a:solidFill>
              <a:srgbClr val="6D866B"/>
            </a:solidFill>
            <a:prstDash val="solid"/>
          </a:ln>
        </p:spPr>
        <p:txBody>
          <a:bodyPr/>
          <a:lstStyle/>
          <a:p/>
        </p:txBody>
      </p:sp>
      <p:sp>
        <p:nvSpPr>
          <p:cNvPr id="82" name="vehicle-flow-caption"/>
          <p:cNvSpPr>
            <a:spLocks noGrp="1"/>
          </p:cNvSpPr>
          <p:nvPr/>
        </p:nvSpPr>
        <p:spPr>
          <a:xfrm>
            <a:off x="666750" y="2230755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1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200" b="0" i="1">
              <a:solidFill>
                <a:srgbClr val="706A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3" name="calibration-heading"/>
          <p:cNvSpPr>
            <a:spLocks noGrp="1"/>
          </p:cNvSpPr>
          <p:nvPr/>
        </p:nvSpPr>
        <p:spPr>
          <a:xfrm>
            <a:off x="9048750" y="20955000"/>
            <a:ext cx="4667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CUSTOM OV9281 CALIBRATION PIPELINE</a:t>
            </a:r>
            <a:endParaRPr sz="1500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4" name="calibration-results"/>
          <p:cNvSpPr>
            <a:spLocks noGrp="1"/>
          </p:cNvSpPr>
          <p:nvPr/>
        </p:nvSpPr>
        <p:spPr>
          <a:xfrm>
            <a:off x="9048750" y="21259800"/>
            <a:ext cx="4667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413"/>
          </a:bodyPr>
          <a:lstStyle/>
          <a:p>
            <a:pPr algn="l">
              <a:buNone/>
              <a:defRPr sz="124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4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 developed a dedicated OpenCV calibration program to improve</a:t>
            </a:r>
            <a:endParaRPr sz="1245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24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4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repeatability through automated corner detection, invalid-frame</a:t>
            </a:r>
            <a:endParaRPr sz="1245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24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4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rejection and reprojection-error evaluation.</a:t>
            </a:r>
            <a:endParaRPr sz="1245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24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4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Dataset  31 multi-pose images · 1280 × 720</a:t>
            </a:r>
            <a:endParaRPr sz="1245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24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4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Target  11 × 8 inner corners · 10 mm squares</a:t>
            </a:r>
            <a:endParaRPr sz="1245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24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4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RMS  0.1313 · mean reprojection error  0.014</a:t>
            </a:r>
            <a:endParaRPr sz="1245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5" name="section-6-number"/>
          <p:cNvSpPr>
            <a:spLocks noGrp="1"/>
          </p:cNvSpPr>
          <p:nvPr/>
        </p:nvSpPr>
        <p:spPr>
          <a:xfrm>
            <a:off x="14001750" y="183832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</a:t>
            </a:r>
            <a:endParaRPr sz="1650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6" name="section-6-title"/>
          <p:cNvSpPr>
            <a:spLocks noGrp="1"/>
          </p:cNvSpPr>
          <p:nvPr/>
        </p:nvSpPr>
        <p:spPr>
          <a:xfrm>
            <a:off x="14478000" y="18373725"/>
            <a:ext cx="6238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VISION CONTROLLER</a:t>
            </a:r>
            <a:endParaRPr sz="2100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7" name="section-6-rule"/>
          <p:cNvSpPr>
            <a:spLocks noGrp="1"/>
          </p:cNvSpPr>
          <p:nvPr/>
        </p:nvSpPr>
        <p:spPr>
          <a:xfrm>
            <a:off x="14001750" y="18745200"/>
            <a:ext cx="6715125" cy="4763"/>
          </a:xfrm>
          <a:prstGeom prst="line">
            <a:avLst/>
          </a:prstGeom>
          <a:noFill/>
          <a:ln w="20955">
            <a:solidFill>
              <a:srgbClr val="6D866B"/>
            </a:solidFill>
            <a:prstDash val="solid"/>
          </a:ln>
        </p:spPr>
        <p:txBody>
          <a:bodyPr/>
          <a:lstStyle/>
          <a:p/>
        </p:txBody>
      </p:sp>
      <p:sp>
        <p:nvSpPr>
          <p:cNvPr id="88" name="vision-controller-body"/>
          <p:cNvSpPr>
            <a:spLocks noGrp="1"/>
          </p:cNvSpPr>
          <p:nvPr/>
        </p:nvSpPr>
        <p:spPr>
          <a:xfrm>
            <a:off x="14001750" y="18859500"/>
            <a:ext cx="6715125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  <a:defRPr sz="1500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rear camera detects DICT_4X4_50 marker ID 0; the black coding region is configured as 0.068 m. Calibrated intrinsics and distortion feed SOLVEPNP_IPPE_SQUARE,, while angular correction is rate-limited.</a:t>
            </a:r>
            <a:r>
              <a:rPr sz="150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with iterative PnP as fallback. Lateral offset x, range z and marker-normal yaw are low-pass filtered with hysteresis</a:t>
            </a:r>
            <a:endParaRPr sz="1500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9" name="control-parameters-heading"/>
          <p:cNvSpPr>
            <a:spLocks noGrp="1"/>
          </p:cNvSpPr>
          <p:nvPr/>
        </p:nvSpPr>
        <p:spPr>
          <a:xfrm>
            <a:off x="14001750" y="2059305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CONTROL PARAMETERS</a:t>
            </a:r>
            <a:endParaRPr sz="1500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0" name="control-parameters-body"/>
          <p:cNvSpPr>
            <a:spLocks noGrp="1"/>
          </p:cNvSpPr>
          <p:nvPr/>
        </p:nvSpPr>
        <p:spPr>
          <a:xfrm>
            <a:off x="14001750" y="20907375"/>
            <a:ext cx="6715125" cy="1266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Misaligned reverse speed     −0.018 m/s</a:t>
            </a:r>
            <a:endParaRPr sz="146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4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Centred reverse speed           −0.03 m/s</a:t>
            </a:r>
            <a:endParaRPr sz="146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4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Visual stop distance             z ≤ 0.16 m</a:t>
            </a:r>
            <a:endParaRPr sz="146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4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Bearing deadband                  1.2°</a:t>
            </a:r>
            <a:endParaRPr sz="146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4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6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Stop override                         /robot_charging_flag = true</a:t>
            </a:r>
            <a:endParaRPr sz="146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1" name="docking-control-claim"/>
          <p:cNvSpPr>
            <a:spLocks noGrp="1"/>
          </p:cNvSpPr>
          <p:nvPr/>
        </p:nvSpPr>
        <p:spPr>
          <a:xfrm>
            <a:off x="14001750" y="2224087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 i="0">
                <a:solidFill>
                  <a:srgbClr val="536A5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425" b="1" i="0">
              <a:solidFill>
                <a:srgbClr val="536A5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2" name="section-7-number"/>
          <p:cNvSpPr>
            <a:spLocks noGrp="1"/>
          </p:cNvSpPr>
          <p:nvPr/>
        </p:nvSpPr>
        <p:spPr>
          <a:xfrm>
            <a:off x="666750" y="228600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</a:t>
            </a:r>
            <a:endParaRPr sz="1650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3" name="section-7-title"/>
          <p:cNvSpPr>
            <a:spLocks noGrp="1"/>
          </p:cNvSpPr>
          <p:nvPr/>
        </p:nvSpPr>
        <p:spPr>
          <a:xfrm>
            <a:off x="1143000" y="22850475"/>
            <a:ext cx="590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FREERTOS FAIL-SAFE CONTROL</a:t>
            </a:r>
            <a:endParaRPr sz="2100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4" name="section-7-rule"/>
          <p:cNvSpPr>
            <a:spLocks noGrp="1"/>
          </p:cNvSpPr>
          <p:nvPr/>
        </p:nvSpPr>
        <p:spPr>
          <a:xfrm>
            <a:off x="666750" y="23221950"/>
            <a:ext cx="6381750" cy="4763"/>
          </a:xfrm>
          <a:prstGeom prst="line">
            <a:avLst/>
          </a:prstGeom>
          <a:noFill/>
          <a:ln w="20955">
            <a:solidFill>
              <a:srgbClr val="6D866B"/>
            </a:solidFill>
            <a:prstDash val="solid"/>
          </a:ln>
        </p:spPr>
        <p:txBody>
          <a:bodyPr/>
          <a:lstStyle/>
          <a:p/>
        </p:txBody>
      </p:sp>
      <p:sp>
        <p:nvSpPr>
          <p:cNvPr id="95" name="safety-illustration-caption"/>
          <p:cNvSpPr>
            <a:spLocks noGrp="1"/>
          </p:cNvSpPr>
          <p:nvPr/>
        </p:nvSpPr>
        <p:spPr>
          <a:xfrm>
            <a:off x="666750" y="24907875"/>
            <a:ext cx="3762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1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1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Five independent local checks</a:t>
            </a:r>
            <a:endParaRPr sz="1200" b="0" i="1">
              <a:solidFill>
                <a:srgbClr val="706A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6" name="dock-display-caption"/>
          <p:cNvSpPr>
            <a:spLocks noGrp="1"/>
          </p:cNvSpPr>
          <p:nvPr/>
        </p:nvSpPr>
        <p:spPr>
          <a:xfrm>
            <a:off x="4619625" y="24717375"/>
            <a:ext cx="2428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1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 i="1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E-stop test: relay OFF and buzzer ALARM</a:t>
            </a:r>
            <a:endParaRPr sz="1125" b="0" i="1">
              <a:solidFill>
                <a:srgbClr val="706A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7" name="local-safety-body"/>
          <p:cNvSpPr>
            <a:spLocks noGrp="1"/>
          </p:cNvSpPr>
          <p:nvPr/>
        </p:nvSpPr>
        <p:spPr>
          <a:xfrm>
            <a:off x="666750" y="25241250"/>
            <a:ext cx="63817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FreeRTOS separates non-blocking network I/O from the safety-critical control path. A dedicated task uploads telemetry every 5 s and polls commands every 1.5 s with a 500 ms HTTP timeout; the local state machine continuously checks ToF, micro-switch, INA226, NTC and the normally closed E-stop. Only 600 ms of stable valid conditions permits relay ON.</a:t>
            </a:r>
            <a:endParaRPr sz="1425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8" name="local-safety-thresholds"/>
          <p:cNvSpPr>
            <a:spLocks noGrp="1"/>
          </p:cNvSpPr>
          <p:nvPr/>
        </p:nvSpPr>
        <p:spPr>
          <a:xfrm>
            <a:off x="666750" y="26574750"/>
            <a:ext cx="6381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90" b="1" i="0">
                <a:solidFill>
                  <a:srgbClr val="9A514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90" b="1" i="0">
                <a:solidFill>
                  <a:srgbClr val="9A514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STOP is latched and highest priority  ·  relay defaults OFF  ·  CLEAR_FAULT only after physical recovery  ·  Web / AI cannot bypass interlocks</a:t>
            </a:r>
            <a:endParaRPr sz="1390" b="1" i="0">
              <a:solidFill>
                <a:srgbClr val="9A514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9" name="protected-power-path"/>
          <p:cNvSpPr>
            <a:spLocks noGrp="1"/>
          </p:cNvSpPr>
          <p:nvPr/>
        </p:nvSpPr>
        <p:spPr>
          <a:xfrm>
            <a:off x="666750" y="27222450"/>
            <a:ext cx="638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27"/>
          </a:bodyPr>
          <a:lstStyle/>
          <a:p>
            <a:pPr algn="l">
              <a:buNone/>
              <a:defRPr sz="1165" b="0" i="0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65" b="0" i="0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Control invariant: every state transition re-checks local sensors. Fault, sensor-offline, over-temperature or E-stop forces immediate relay OFF; Wi-Fi or backend loss never blocks local safety detection.</a:t>
            </a:r>
            <a:endParaRPr sz="1165" b="0" i="0">
              <a:solidFill>
                <a:srgbClr val="706A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0" name="section-8-number"/>
          <p:cNvSpPr>
            <a:spLocks noGrp="1"/>
          </p:cNvSpPr>
          <p:nvPr/>
        </p:nvSpPr>
        <p:spPr>
          <a:xfrm>
            <a:off x="7334250" y="228600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</a:t>
            </a:r>
            <a:endParaRPr sz="1650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1" name="section-8-title"/>
          <p:cNvSpPr>
            <a:spLocks noGrp="1"/>
          </p:cNvSpPr>
          <p:nvPr/>
        </p:nvSpPr>
        <p:spPr>
          <a:xfrm>
            <a:off x="7810500" y="22850475"/>
            <a:ext cx="590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CIRCUIT SCHEMATIC</a:t>
            </a:r>
            <a:endParaRPr sz="2100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2" name="section-8-rule"/>
          <p:cNvSpPr>
            <a:spLocks noGrp="1"/>
          </p:cNvSpPr>
          <p:nvPr/>
        </p:nvSpPr>
        <p:spPr>
          <a:xfrm>
            <a:off x="7334250" y="23221950"/>
            <a:ext cx="6381750" cy="4763"/>
          </a:xfrm>
          <a:prstGeom prst="line">
            <a:avLst/>
          </a:prstGeom>
          <a:noFill/>
          <a:ln w="20955">
            <a:solidFill>
              <a:srgbClr val="6D866B"/>
            </a:solidFill>
            <a:prstDash val="solid"/>
          </a:ln>
        </p:spPr>
        <p:txBody>
          <a:bodyPr/>
          <a:lstStyle/>
          <a:p/>
        </p:txBody>
      </p:sp>
      <p:sp>
        <p:nvSpPr>
          <p:cNvPr id="103" name="circuit-schematic-caption"/>
          <p:cNvSpPr>
            <a:spLocks noGrp="1"/>
          </p:cNvSpPr>
          <p:nvPr/>
        </p:nvSpPr>
        <p:spPr>
          <a:xfrm>
            <a:off x="7334250" y="27451050"/>
            <a:ext cx="638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0" i="1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1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ESP32-S3, sensing, relay, display and protection interfaces</a:t>
            </a:r>
            <a:endParaRPr sz="1200" b="0" i="1">
              <a:solidFill>
                <a:srgbClr val="706A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4" name="section-9-number"/>
          <p:cNvSpPr>
            <a:spLocks noGrp="1"/>
          </p:cNvSpPr>
          <p:nvPr/>
        </p:nvSpPr>
        <p:spPr>
          <a:xfrm>
            <a:off x="14001750" y="228600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</a:t>
            </a:r>
            <a:endParaRPr sz="1650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5" name="section-9-title"/>
          <p:cNvSpPr>
            <a:spLocks noGrp="1"/>
          </p:cNvSpPr>
          <p:nvPr/>
        </p:nvSpPr>
        <p:spPr>
          <a:xfrm>
            <a:off x="14478000" y="22850475"/>
            <a:ext cx="6238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PCB LAYOUT &amp; ROUTING</a:t>
            </a:r>
            <a:endParaRPr sz="2100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6" name="section-9-rule"/>
          <p:cNvSpPr>
            <a:spLocks noGrp="1"/>
          </p:cNvSpPr>
          <p:nvPr/>
        </p:nvSpPr>
        <p:spPr>
          <a:xfrm>
            <a:off x="14001750" y="23221950"/>
            <a:ext cx="6715125" cy="4763"/>
          </a:xfrm>
          <a:prstGeom prst="line">
            <a:avLst/>
          </a:prstGeom>
          <a:noFill/>
          <a:ln w="20955">
            <a:solidFill>
              <a:srgbClr val="6D866B"/>
            </a:solidFill>
            <a:prstDash val="solid"/>
          </a:ln>
        </p:spPr>
        <p:txBody>
          <a:bodyPr/>
          <a:lstStyle/>
          <a:p/>
        </p:txBody>
      </p:sp>
      <p:sp>
        <p:nvSpPr>
          <p:cNvPr id="107" name="pcb-layout-caption"/>
          <p:cNvSpPr>
            <a:spLocks noGrp="1"/>
          </p:cNvSpPr>
          <p:nvPr/>
        </p:nvSpPr>
        <p:spPr>
          <a:xfrm>
            <a:off x="14001750" y="27451050"/>
            <a:ext cx="6715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0" i="1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1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Board-level routing with separated high-current and signal paths</a:t>
            </a:r>
            <a:endParaRPr sz="1200" b="0" i="1">
              <a:solidFill>
                <a:srgbClr val="706A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8" name="section-10-number"/>
          <p:cNvSpPr>
            <a:spLocks noGrp="1"/>
          </p:cNvSpPr>
          <p:nvPr/>
        </p:nvSpPr>
        <p:spPr>
          <a:xfrm>
            <a:off x="666750" y="27936825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</a:t>
            </a:r>
            <a:endParaRPr sz="1650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9" name="section-10-title"/>
          <p:cNvSpPr>
            <a:spLocks noGrp="1"/>
          </p:cNvSpPr>
          <p:nvPr/>
        </p:nvSpPr>
        <p:spPr>
          <a:xfrm>
            <a:off x="1143000" y="27927300"/>
            <a:ext cx="590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VALIDATION</a:t>
            </a:r>
            <a:endParaRPr sz="187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0" name="section-10-rule"/>
          <p:cNvSpPr>
            <a:spLocks noGrp="1"/>
          </p:cNvSpPr>
          <p:nvPr/>
        </p:nvSpPr>
        <p:spPr>
          <a:xfrm>
            <a:off x="666750" y="28298775"/>
            <a:ext cx="6381750" cy="4763"/>
          </a:xfrm>
          <a:prstGeom prst="line">
            <a:avLst/>
          </a:prstGeom>
          <a:noFill/>
          <a:ln w="20955">
            <a:solidFill>
              <a:srgbClr val="6D866B"/>
            </a:solidFill>
            <a:prstDash val="solid"/>
          </a:ln>
        </p:spPr>
        <p:txBody>
          <a:bodyPr/>
          <a:lstStyle/>
          <a:p/>
        </p:txBody>
      </p:sp>
      <p:sp>
        <p:nvSpPr>
          <p:cNvPr id="111" name="validation-body"/>
          <p:cNvSpPr>
            <a:spLocks noGrp="1"/>
          </p:cNvSpPr>
          <p:nvPr/>
        </p:nvSpPr>
        <p:spPr>
          <a:xfrm>
            <a:off x="666750" y="28384500"/>
            <a:ext cx="63817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1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1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Calibration: 31 valid images; RMS 0.1313; mean reprojection error 0.014.</a:t>
            </a:r>
            <a:endParaRPr sz="1315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31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1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Integration: one state chain links waypoint work, low-battery return, /start_docking, contact, charging and task recovery.</a:t>
            </a:r>
            <a:endParaRPr sz="1315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31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1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Fail-safe evidence: the local display records EMERGENCY_STOP with Relay OFF and Buzzer ALARM.</a:t>
            </a:r>
            <a:endParaRPr sz="1315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31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15" b="0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Acceptance events are separately logged at pre-dock arrival, visual stop, stable contact, relay-on and detected charging.</a:t>
            </a:r>
            <a:endParaRPr sz="1315" b="0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2" name="section-11-number"/>
          <p:cNvSpPr>
            <a:spLocks noGrp="1"/>
          </p:cNvSpPr>
          <p:nvPr/>
        </p:nvSpPr>
        <p:spPr>
          <a:xfrm>
            <a:off x="7334250" y="27936825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</a:t>
            </a:r>
            <a:endParaRPr sz="1650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3" name="section-11-title"/>
          <p:cNvSpPr>
            <a:spLocks noGrp="1"/>
          </p:cNvSpPr>
          <p:nvPr/>
        </p:nvSpPr>
        <p:spPr>
          <a:xfrm>
            <a:off x="7810500" y="27927300"/>
            <a:ext cx="590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KEY CONTRIBUTIONS</a:t>
            </a:r>
            <a:endParaRPr sz="187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4" name="section-11-rule"/>
          <p:cNvSpPr>
            <a:spLocks noGrp="1"/>
          </p:cNvSpPr>
          <p:nvPr/>
        </p:nvSpPr>
        <p:spPr>
          <a:xfrm>
            <a:off x="7334250" y="28298775"/>
            <a:ext cx="6381750" cy="4763"/>
          </a:xfrm>
          <a:prstGeom prst="line">
            <a:avLst/>
          </a:prstGeom>
          <a:noFill/>
          <a:ln w="20955">
            <a:solidFill>
              <a:srgbClr val="6D866B"/>
            </a:solidFill>
            <a:prstDash val="solid"/>
          </a:ln>
        </p:spPr>
        <p:txBody>
          <a:bodyPr/>
          <a:lstStyle/>
          <a:p/>
        </p:txBody>
      </p:sp>
      <p:sp>
        <p:nvSpPr>
          <p:cNvPr id="115" name="contributions-body"/>
          <p:cNvSpPr>
            <a:spLocks noGrp="1"/>
          </p:cNvSpPr>
          <p:nvPr/>
        </p:nvSpPr>
        <p:spPr>
          <a:xfrm>
            <a:off x="7334250" y="28384500"/>
            <a:ext cx="6381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1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1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  A full-cycle, energy-aware mission rather than an isolated charger demo.</a:t>
            </a:r>
            <a:endParaRPr sz="131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31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1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  Scale-separated control: Nav2 for coarse return; ArUco/PnP for contact alignment.</a:t>
            </a:r>
            <a:endParaRPr sz="131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31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1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  FreeRTOS task separation and multi-source local safety; remote services cannot bypass interlocks.</a:t>
            </a:r>
            <a:endParaRPr sz="131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31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1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  Traceable implementation across mechanism, sensing, firmware, circuit, PCB and Web records.</a:t>
            </a:r>
            <a:endParaRPr sz="131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6" name="section-12-number"/>
          <p:cNvSpPr>
            <a:spLocks noGrp="1"/>
          </p:cNvSpPr>
          <p:nvPr/>
        </p:nvSpPr>
        <p:spPr>
          <a:xfrm>
            <a:off x="14001750" y="27936825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 i="0">
                <a:solidFill>
                  <a:srgbClr val="B9683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</a:t>
            </a:r>
            <a:endParaRPr sz="1650" b="1" i="0">
              <a:solidFill>
                <a:srgbClr val="B9683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7" name="section-12-title"/>
          <p:cNvSpPr>
            <a:spLocks noGrp="1"/>
          </p:cNvSpPr>
          <p:nvPr/>
        </p:nvSpPr>
        <p:spPr>
          <a:xfrm>
            <a:off x="14478000" y="27927300"/>
            <a:ext cx="6238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CONCLUSION &amp; NEXT STEPS</a:t>
            </a:r>
            <a:endParaRPr sz="187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8" name="section-12-rule"/>
          <p:cNvSpPr>
            <a:spLocks noGrp="1"/>
          </p:cNvSpPr>
          <p:nvPr/>
        </p:nvSpPr>
        <p:spPr>
          <a:xfrm>
            <a:off x="14001750" y="28298775"/>
            <a:ext cx="6715125" cy="4763"/>
          </a:xfrm>
          <a:prstGeom prst="line">
            <a:avLst/>
          </a:prstGeom>
          <a:noFill/>
          <a:ln w="20955">
            <a:solidFill>
              <a:srgbClr val="6D866B"/>
            </a:solidFill>
            <a:prstDash val="solid"/>
          </a:ln>
        </p:spPr>
        <p:txBody>
          <a:bodyPr/>
          <a:lstStyle/>
          <a:p/>
        </p:txBody>
      </p:sp>
      <p:sp>
        <p:nvSpPr>
          <p:cNvPr id="119" name="conclusion-body"/>
          <p:cNvSpPr>
            <a:spLocks noGrp="1"/>
          </p:cNvSpPr>
          <p:nvPr/>
        </p:nvSpPr>
        <p:spPr>
          <a:xfrm>
            <a:off x="14001750" y="28384500"/>
            <a:ext cx="67151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62"/>
          </a:bodyPr>
          <a:lstStyle/>
          <a:p>
            <a:pPr algn="l">
              <a:buNone/>
              <a:defRPr sz="131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1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Nav2 brings the robot close; ArUco aligns the contacts; </a:t>
            </a:r>
            <a:r>
              <a:rPr sz="131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ESP32-S3 FreeRTOS safety state machine alone authorises charging power.</a:t>
            </a:r>
            <a:r>
              <a:rPr sz="1315" b="1" i="0">
                <a:solidFill>
                  <a:srgbClr val="4D4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Current validation is indoor. Future work will quantify success rate and docking time over wider initial offsets and lighting, add outdoor dust/water protection, dual NTC and contact-resistance trends, and authenticated command auditing.</a:t>
            </a:r>
            <a:endParaRPr sz="1315" b="1" i="0">
              <a:solidFill>
                <a:srgbClr val="4D4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0" name="references-and-acknowledgement"/>
          <p:cNvSpPr>
            <a:spLocks noGrp="1"/>
          </p:cNvSpPr>
          <p:nvPr/>
        </p:nvSpPr>
        <p:spPr>
          <a:xfrm>
            <a:off x="14001750" y="29432250"/>
            <a:ext cx="6715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90" b="0" i="0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90" b="0" i="0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REFERENCES  [1] Project technical report, 2026.  [2] ROS 2 Nav2 technical documentation.  [3] OpenCV ArUco, camera calibration and PnP documentation.</a:t>
            </a:r>
            <a:endParaRPr sz="1090" b="0" i="0">
              <a:solidFill>
                <a:srgbClr val="706A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090" b="0" i="0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90" b="0" i="0">
                <a:solidFill>
                  <a:srgbClr val="706A6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ACKNOWLEDGEMENT  Xi’an Jiaotong-Liverpool University SURF programme and project supervisors.</a:t>
            </a:r>
            <a:endParaRPr sz="1090" b="0" i="0">
              <a:solidFill>
                <a:srgbClr val="706A6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calibration-title-mask"/>
          <p:cNvSpPr>
            <a:spLocks noGrp="1"/>
          </p:cNvSpPr>
          <p:nvPr/>
        </p:nvSpPr>
        <p:spPr>
          <a:xfrm>
            <a:off x="9051322" y="18907125"/>
            <a:ext cx="4662202" cy="2762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35" name="calibration-image-title-en"/>
          <p:cNvSpPr>
            <a:spLocks noGrp="1"/>
          </p:cNvSpPr>
          <p:nvPr/>
        </p:nvSpPr>
        <p:spPr>
          <a:xfrm>
            <a:off x="9163050" y="18945225"/>
            <a:ext cx="443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9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9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OV9281 CAMERA CALIBRATION &amp; ArUco TARGET</a:t>
            </a:r>
            <a:endParaRPr sz="990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calibration-caption-mask"/>
          <p:cNvSpPr>
            <a:spLocks noGrp="1"/>
          </p:cNvSpPr>
          <p:nvPr/>
        </p:nvSpPr>
        <p:spPr>
          <a:xfrm>
            <a:off x="9051322" y="20697825"/>
            <a:ext cx="4662202" cy="1809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37" name="calibration-image-left-caption-en"/>
          <p:cNvSpPr>
            <a:spLocks noGrp="1"/>
          </p:cNvSpPr>
          <p:nvPr/>
        </p:nvSpPr>
        <p:spPr>
          <a:xfrm>
            <a:off x="9172575" y="20716875"/>
            <a:ext cx="2781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615" b="0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15" b="0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 × 8 INNER CORNERS · 10 mm SQUARES · 31 VALID IMAGES</a:t>
            </a:r>
            <a:endParaRPr sz="615" b="0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calibration-marker-caption-mask"/>
          <p:cNvSpPr>
            <a:spLocks noGrp="1"/>
          </p:cNvSpPr>
          <p:nvPr/>
        </p:nvSpPr>
        <p:spPr>
          <a:xfrm>
            <a:off x="12001500" y="20545425"/>
            <a:ext cx="1609725" cy="1714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39" name="calibration-image-right-caption-en"/>
          <p:cNvSpPr>
            <a:spLocks noGrp="1"/>
          </p:cNvSpPr>
          <p:nvPr/>
        </p:nvSpPr>
        <p:spPr>
          <a:xfrm>
            <a:off x="12001500" y="20564475"/>
            <a:ext cx="16097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615" b="0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15" b="0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DICT_4X4_50 · TARGET ID 0</a:t>
            </a:r>
            <a:endParaRPr sz="615" b="0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docking-state-label-1"/>
          <p:cNvSpPr>
            <a:spLocks noGrp="1"/>
          </p:cNvSpPr>
          <p:nvPr/>
        </p:nvSpPr>
        <p:spPr>
          <a:xfrm>
            <a:off x="809244" y="20246241"/>
            <a:ext cx="891540" cy="3566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NORMAL</a:t>
            </a:r>
            <a:endParaRPr sz="94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TASK</a:t>
            </a:r>
            <a:endParaRPr sz="94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docking-state-label-2"/>
          <p:cNvSpPr>
            <a:spLocks noGrp="1"/>
          </p:cNvSpPr>
          <p:nvPr/>
        </p:nvSpPr>
        <p:spPr>
          <a:xfrm>
            <a:off x="2007870" y="20246241"/>
            <a:ext cx="881634" cy="3566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LOW-BATTERY</a:t>
            </a:r>
            <a:endParaRPr sz="94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RETURN</a:t>
            </a:r>
            <a:endParaRPr sz="94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docking-state-label-3"/>
          <p:cNvSpPr>
            <a:spLocks noGrp="1"/>
          </p:cNvSpPr>
          <p:nvPr/>
        </p:nvSpPr>
        <p:spPr>
          <a:xfrm>
            <a:off x="3186684" y="20246241"/>
            <a:ext cx="871728" cy="3566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060"/>
          </a:bodyPr>
          <a:lstStyle/>
          <a:p>
            <a:pPr algn="ctr">
              <a:buNone/>
              <a:def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VISION-GUIDED</a:t>
            </a:r>
            <a:endParaRPr sz="94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DOCKING</a:t>
            </a:r>
            <a:endParaRPr sz="94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docking-state-label-4"/>
          <p:cNvSpPr>
            <a:spLocks noGrp="1"/>
          </p:cNvSpPr>
          <p:nvPr/>
        </p:nvSpPr>
        <p:spPr>
          <a:xfrm>
            <a:off x="4355592" y="20246241"/>
            <a:ext cx="871728" cy="3566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123"/>
          </a:bodyPr>
          <a:lstStyle/>
          <a:p>
            <a:pPr algn="ctr">
              <a:buNone/>
              <a:def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CONTACT &amp;</a:t>
            </a:r>
            <a:endParaRPr sz="94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SAFETY CHECK</a:t>
            </a:r>
            <a:endParaRPr sz="94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docking-state-label-5"/>
          <p:cNvSpPr>
            <a:spLocks noGrp="1"/>
          </p:cNvSpPr>
          <p:nvPr/>
        </p:nvSpPr>
        <p:spPr>
          <a:xfrm>
            <a:off x="5524500" y="20246241"/>
            <a:ext cx="871728" cy="3566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186"/>
          </a:bodyPr>
          <a:lstStyle/>
          <a:p>
            <a:pPr algn="ctr">
              <a:buNone/>
              <a:def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RELAY-ENABLED</a:t>
            </a:r>
            <a:endParaRPr sz="94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CHARGING</a:t>
            </a:r>
            <a:endParaRPr sz="94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docking-state-label-6"/>
          <p:cNvSpPr>
            <a:spLocks noGrp="1"/>
          </p:cNvSpPr>
          <p:nvPr/>
        </p:nvSpPr>
        <p:spPr>
          <a:xfrm>
            <a:off x="6693408" y="20246241"/>
            <a:ext cx="851916" cy="3566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CHARGING</a:t>
            </a:r>
            <a:endParaRPr sz="94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COMPLETE</a:t>
            </a:r>
            <a:endParaRPr sz="94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docking-state-label-7"/>
          <p:cNvSpPr>
            <a:spLocks noGrp="1"/>
          </p:cNvSpPr>
          <p:nvPr/>
        </p:nvSpPr>
        <p:spPr>
          <a:xfrm>
            <a:off x="7852410" y="20246241"/>
            <a:ext cx="861822" cy="3566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RESUME</a:t>
            </a:r>
            <a:endParaRPr sz="94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4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MISSION</a:t>
            </a:r>
            <a:endParaRPr sz="94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docking-fault-title"/>
          <p:cNvSpPr>
            <a:spLocks noGrp="1"/>
          </p:cNvSpPr>
          <p:nvPr/>
        </p:nvSpPr>
        <p:spPr>
          <a:xfrm>
            <a:off x="2859786" y="21534783"/>
            <a:ext cx="132740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65" b="1" i="0">
                <a:solidFill>
                  <a:srgbClr val="A85F2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65" b="1" i="0">
                <a:solidFill>
                  <a:srgbClr val="A85F2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FAULT</a:t>
            </a:r>
            <a:endParaRPr sz="1165" b="1" i="0">
              <a:solidFill>
                <a:srgbClr val="A85F2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docking-fault-detail"/>
          <p:cNvSpPr>
            <a:spLocks noGrp="1"/>
          </p:cNvSpPr>
          <p:nvPr/>
        </p:nvSpPr>
        <p:spPr>
          <a:xfrm>
            <a:off x="2859786" y="21711948"/>
            <a:ext cx="1327404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48"/>
          </a:bodyPr>
          <a:lstStyle/>
          <a:p>
            <a:pPr algn="ctr">
              <a:buNone/>
              <a:defRPr sz="95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5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Sensor failure</a:t>
            </a:r>
            <a:endParaRPr sz="95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5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5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Overtemp / overcurrent</a:t>
            </a:r>
            <a:endParaRPr sz="95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docking-estop-title"/>
          <p:cNvSpPr>
            <a:spLocks noGrp="1"/>
          </p:cNvSpPr>
          <p:nvPr/>
        </p:nvSpPr>
        <p:spPr>
          <a:xfrm>
            <a:off x="5796916" y="21597076"/>
            <a:ext cx="140665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65" b="1" i="0">
                <a:solidFill>
                  <a:srgbClr val="A85F2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65" b="1" i="0">
                <a:solidFill>
                  <a:srgbClr val="A85F2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EMERGENCY STOP</a:t>
            </a:r>
            <a:endParaRPr sz="1065" b="1" i="0">
              <a:solidFill>
                <a:srgbClr val="A85F2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docking-estop-detail"/>
          <p:cNvSpPr>
            <a:spLocks noGrp="1"/>
          </p:cNvSpPr>
          <p:nvPr/>
        </p:nvSpPr>
        <p:spPr>
          <a:xfrm>
            <a:off x="5841492" y="21711948"/>
            <a:ext cx="140665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5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5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Interrupts any state</a:t>
            </a:r>
            <a:endParaRPr sz="95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5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55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Priority power cut-off</a:t>
            </a:r>
            <a:endParaRPr sz="955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local-safety-label-1"/>
          <p:cNvSpPr>
            <a:spLocks noGrp="1"/>
          </p:cNvSpPr>
          <p:nvPr/>
        </p:nvSpPr>
        <p:spPr>
          <a:xfrm>
            <a:off x="768668" y="24283988"/>
            <a:ext cx="473393" cy="1476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62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2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ToF RANGE</a:t>
            </a:r>
            <a:endParaRPr sz="620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local-safety-label-2"/>
          <p:cNvSpPr>
            <a:spLocks noGrp="1"/>
          </p:cNvSpPr>
          <p:nvPr/>
        </p:nvSpPr>
        <p:spPr>
          <a:xfrm>
            <a:off x="1487805" y="24283988"/>
            <a:ext cx="451062" cy="1428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62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2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MICRO-SW.</a:t>
            </a:r>
            <a:endParaRPr sz="620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local-safety-label-3"/>
          <p:cNvSpPr>
            <a:spLocks noGrp="1"/>
          </p:cNvSpPr>
          <p:nvPr/>
        </p:nvSpPr>
        <p:spPr>
          <a:xfrm>
            <a:off x="2135609" y="24300655"/>
            <a:ext cx="437198" cy="1476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62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2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 / I</a:t>
            </a:r>
            <a:endParaRPr sz="620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local-safety-label-4"/>
          <p:cNvSpPr>
            <a:spLocks noGrp="1"/>
          </p:cNvSpPr>
          <p:nvPr/>
        </p:nvSpPr>
        <p:spPr>
          <a:xfrm>
            <a:off x="2817495" y="24283988"/>
            <a:ext cx="440055" cy="1476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62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2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NTC TEMP.</a:t>
            </a:r>
            <a:endParaRPr sz="620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local-safety-label-5"/>
          <p:cNvSpPr>
            <a:spLocks noGrp="1"/>
          </p:cNvSpPr>
          <p:nvPr/>
        </p:nvSpPr>
        <p:spPr>
          <a:xfrm>
            <a:off x="3448050" y="24283988"/>
            <a:ext cx="419100" cy="1476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62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20" b="1" i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E-STOP</a:t>
            </a:r>
            <a:endParaRPr sz="620" b="1" i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19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8472" y="5379047"/>
            <a:ext cx="6655704" cy="4217392"/>
          </a:xfrm>
          <a:prstGeom prst="rect">
            <a:avLst/>
          </a:prstGeom>
        </p:spPr>
      </p:pic>
      <p:pic>
        <p:nvPicPr>
          <p:cNvPr id="320" name="图片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7767" y="7778635"/>
            <a:ext cx="2981309" cy="4803890"/>
          </a:xfrm>
          <a:prstGeom prst="rect">
            <a:avLst/>
          </a:prstGeom>
        </p:spPr>
      </p:pic>
      <p:pic>
        <p:nvPicPr>
          <p:cNvPr id="321" name="图片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077950" y="23244781"/>
            <a:ext cx="6229566" cy="4540623"/>
          </a:xfrm>
          <a:prstGeom prst="rect">
            <a:avLst/>
          </a:prstGeom>
        </p:spPr>
      </p:pic>
      <p:sp>
        <p:nvSpPr>
          <p:cNvPr id="169" name="control-stack-label-1"/>
          <p:cNvSpPr>
            <a:spLocks noGrp="1"/>
          </p:cNvSpPr>
          <p:nvPr/>
        </p:nvSpPr>
        <p:spPr>
          <a:xfrm>
            <a:off x="7334250" y="1062990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40" b="1">
                <a:solidFill>
                  <a:srgbClr val="C267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40" b="1">
                <a:solidFill>
                  <a:srgbClr val="C267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VEHICLE CONTROL</a:t>
            </a:r>
            <a:endParaRPr sz="1240" b="1">
              <a:solidFill>
                <a:srgbClr val="C267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control-stack-description-1"/>
          <p:cNvSpPr>
            <a:spLocks noGrp="1"/>
          </p:cNvSpPr>
          <p:nvPr/>
        </p:nvSpPr>
        <p:spPr>
          <a:xfrm>
            <a:off x="9001125" y="10629900"/>
            <a:ext cx="4714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60" b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60" b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ROS 2 + Nav2  →  mission execution + low-battery return</a:t>
            </a:r>
            <a:endParaRPr sz="1260" b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control-stack-divider-1"/>
          <p:cNvSpPr>
            <a:spLocks noGrp="1"/>
          </p:cNvSpPr>
          <p:nvPr/>
        </p:nvSpPr>
        <p:spPr>
          <a:xfrm>
            <a:off x="7334250" y="10963275"/>
            <a:ext cx="6381750" cy="6668"/>
          </a:xfrm>
          <a:prstGeom prst="rect">
            <a:avLst/>
          </a:prstGeom>
          <a:solidFill>
            <a:srgbClr val="D8D2C7"/>
          </a:solidFill>
          <a:ln w="0">
            <a:noFill/>
            <a:prstDash val="solid"/>
          </a:ln>
        </p:spPr>
      </p:sp>
      <p:sp>
        <p:nvSpPr>
          <p:cNvPr id="172" name="control-stack-label-2"/>
          <p:cNvSpPr>
            <a:spLocks noGrp="1"/>
          </p:cNvSpPr>
          <p:nvPr/>
        </p:nvSpPr>
        <p:spPr>
          <a:xfrm>
            <a:off x="7334250" y="1101090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40" b="1">
                <a:solidFill>
                  <a:srgbClr val="C267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40" b="1">
                <a:solidFill>
                  <a:srgbClr val="C267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VISION DOCKING</a:t>
            </a:r>
            <a:endParaRPr sz="1240" b="1">
              <a:solidFill>
                <a:srgbClr val="C267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control-stack-description-2"/>
          <p:cNvSpPr>
            <a:spLocks noGrp="1"/>
          </p:cNvSpPr>
          <p:nvPr/>
        </p:nvSpPr>
        <p:spPr>
          <a:xfrm>
            <a:off x="9001125" y="11010900"/>
            <a:ext cx="4714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60" b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60" b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OV9281 + ArUco/PnP  →  near-field x / z / yaw correction</a:t>
            </a:r>
            <a:endParaRPr sz="1260" b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control-stack-divider-2"/>
          <p:cNvSpPr>
            <a:spLocks noGrp="1"/>
          </p:cNvSpPr>
          <p:nvPr/>
        </p:nvSpPr>
        <p:spPr>
          <a:xfrm>
            <a:off x="7334250" y="11344275"/>
            <a:ext cx="6381750" cy="6668"/>
          </a:xfrm>
          <a:prstGeom prst="rect">
            <a:avLst/>
          </a:prstGeom>
          <a:solidFill>
            <a:srgbClr val="D8D2C7"/>
          </a:solidFill>
          <a:ln w="0">
            <a:noFill/>
            <a:prstDash val="solid"/>
          </a:ln>
        </p:spPr>
      </p:sp>
      <p:sp>
        <p:nvSpPr>
          <p:cNvPr id="175" name="control-stack-label-3"/>
          <p:cNvSpPr>
            <a:spLocks noGrp="1"/>
          </p:cNvSpPr>
          <p:nvPr/>
        </p:nvSpPr>
        <p:spPr>
          <a:xfrm>
            <a:off x="7334250" y="1139190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40" b="1">
                <a:solidFill>
                  <a:srgbClr val="C267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40" b="1">
                <a:solidFill>
                  <a:srgbClr val="C267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LOCAL SAFETY</a:t>
            </a:r>
            <a:endParaRPr sz="1240" b="1">
              <a:solidFill>
                <a:srgbClr val="C267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control-stack-description-3"/>
          <p:cNvSpPr>
            <a:spLocks noGrp="1"/>
          </p:cNvSpPr>
          <p:nvPr/>
        </p:nvSpPr>
        <p:spPr>
          <a:xfrm>
            <a:off x="9001125" y="11391900"/>
            <a:ext cx="4714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60" b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60" b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ESP32-S3 + FreeRTOS  →  interlocks + relay authority</a:t>
            </a:r>
            <a:endParaRPr sz="1260" b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7" name="control-stack-divider-3"/>
          <p:cNvSpPr>
            <a:spLocks noGrp="1"/>
          </p:cNvSpPr>
          <p:nvPr/>
        </p:nvSpPr>
        <p:spPr>
          <a:xfrm>
            <a:off x="7334250" y="11725275"/>
            <a:ext cx="6381750" cy="6668"/>
          </a:xfrm>
          <a:prstGeom prst="rect">
            <a:avLst/>
          </a:prstGeom>
          <a:solidFill>
            <a:srgbClr val="D8D2C7"/>
          </a:solidFill>
          <a:ln w="0">
            <a:noFill/>
            <a:prstDash val="solid"/>
          </a:ln>
        </p:spPr>
      </p:sp>
      <p:sp>
        <p:nvSpPr>
          <p:cNvPr id="178" name="control-stack-label-4"/>
          <p:cNvSpPr>
            <a:spLocks noGrp="1"/>
          </p:cNvSpPr>
          <p:nvPr/>
        </p:nvSpPr>
        <p:spPr>
          <a:xfrm>
            <a:off x="7334250" y="1177290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40" b="1">
                <a:solidFill>
                  <a:srgbClr val="C267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40" b="1">
                <a:solidFill>
                  <a:srgbClr val="C267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SERVICE LAYER</a:t>
            </a:r>
            <a:endParaRPr sz="1240" b="1">
              <a:solidFill>
                <a:srgbClr val="C267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9" name="control-stack-description-4"/>
          <p:cNvSpPr>
            <a:spLocks noGrp="1"/>
          </p:cNvSpPr>
          <p:nvPr/>
        </p:nvSpPr>
        <p:spPr>
          <a:xfrm>
            <a:off x="9001125" y="11772900"/>
            <a:ext cx="4714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60" b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60" b="0">
                <a:solidFill>
                  <a:srgbClr val="252B3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FastAPI + SQLite + Web  →  monitoring + charge planning</a:t>
            </a:r>
            <a:endParaRPr sz="1260" b="0">
              <a:solidFill>
                <a:srgbClr val="252B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3165" y="23244810"/>
            <a:ext cx="5969000" cy="42208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14300" dist="51294" dir="4091915">
              <a:srgbClr val="4B443A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14300" dist="51294" dir="4091915">
              <a:srgbClr val="4B443A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7768</Words>
  <Application>WPS 文字</Application>
  <PresentationFormat>Converted Presentation</PresentationFormat>
  <Paragraphs>233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Arial</vt:lpstr>
      <vt:lpstr>Calibri</vt:lpstr>
      <vt:lpstr>Helvetica Neue</vt:lpstr>
      <vt:lpstr>微软雅黑</vt:lpstr>
      <vt:lpstr>方正雅意黑 GB18030L2</vt:lpstr>
      <vt:lpstr>宋体</vt:lpstr>
      <vt:lpstr>Arial Unicode MS</vt:lpstr>
      <vt:lpstr>汉仪书宋二KW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MarveLous</cp:lastModifiedBy>
  <cp:revision>2</cp:revision>
  <dcterms:created xsi:type="dcterms:W3CDTF">2026-08-26T09:40:03Z</dcterms:created>
  <dcterms:modified xsi:type="dcterms:W3CDTF">2026-08-26T09:40:03Z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091D9783F9D70BD0EFB28E6ACA8666CA_42</vt:lpwstr>
  </property>
  <property fmtid="{D5CDD505-2E9C-101B-9397-08002B2CF9AE}" pid="3" name="KSOProductBuildVer">
    <vt:lpwstr>2052-12.1.26055.26055</vt:lpwstr>
  </property>
</Properties>
</file>